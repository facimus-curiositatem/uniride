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2801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UniRide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21488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4297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Javeriana · Bogotá, Colombia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0" y="457200"/>
            <a:ext cx="2103120" cy="1005840"/>
          </a:xfrm>
          <a:prstGeom prst="rect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93408" y="54864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93408" y="93268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Vanilla JS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0" y="1600200"/>
            <a:ext cx="2103120" cy="1005840"/>
          </a:xfrm>
          <a:prstGeom prst="rect">
            <a:avLst/>
          </a:prstGeom>
          <a:solidFill>
            <a:srgbClr val="E8882A">
              <a:alpha val="85000"/>
            </a:srgbClr>
          </a:solidFill>
          <a:ln w="12700">
            <a:solidFill>
              <a:srgbClr val="E888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3408" y="169164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93408" y="207568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BCrypt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0" y="2743200"/>
            <a:ext cx="2103120" cy="1005840"/>
          </a:xfrm>
          <a:prstGeom prst="rect">
            <a:avLst/>
          </a:prstGeom>
          <a:solidFill>
            <a:srgbClr val="4B3F72">
              <a:alpha val="85000"/>
            </a:srgbClr>
          </a:solidFill>
          <a:ln w="12700">
            <a:solidFill>
              <a:srgbClr val="4B3F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93408" y="283464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93408" y="321868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3886200"/>
            <a:ext cx="2103120" cy="1005840"/>
          </a:xfrm>
          <a:prstGeom prst="rect">
            <a:avLst/>
          </a:prstGeom>
          <a:solidFill>
            <a:srgbClr val="C25147">
              <a:alpha val="85000"/>
            </a:srgbClr>
          </a:solidFill>
          <a:ln w="12700">
            <a:solidFill>
              <a:srgbClr val="C251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3408" y="397764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93408" y="436168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general de capas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926080" y="822960"/>
            <a:ext cx="3291840" cy="475488"/>
          </a:xfrm>
          <a:prstGeom prst="rect">
            <a:avLst/>
          </a:prstGeom>
          <a:solidFill>
            <a:srgbClr val="E8EDF3"/>
          </a:solidFill>
          <a:ln w="12700">
            <a:solidFill>
              <a:srgbClr val="8E9AA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926080" y="82296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Usuario / Navegador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0" y="1298448"/>
            <a:ext cx="0" cy="164592"/>
          </a:xfrm>
          <a:prstGeom prst="line">
            <a:avLst/>
          </a:prstGeom>
          <a:noFill/>
          <a:ln w="19050">
            <a:solidFill>
              <a:srgbClr val="8E9AAB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4663440" y="13075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fetch()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8503920" cy="804672"/>
          </a:xfrm>
          <a:prstGeom prst="rect">
            <a:avLst/>
          </a:prstGeom>
          <a:solidFill>
            <a:srgbClr val="E1F5EE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81328"/>
            <a:ext cx="1371600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481328"/>
            <a:ext cx="12435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1545336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 + Vanilla JS  ·  servido por Spring Boot /static  ·  puerto 8080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1801368"/>
            <a:ext cx="1013460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20240" y="1801368"/>
            <a:ext cx="101346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1810512"/>
            <a:ext cx="9220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975104" y="2039112"/>
            <a:ext cx="9037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070860" y="1801368"/>
            <a:ext cx="1013460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070860" y="1801368"/>
            <a:ext cx="101346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16580" y="1810512"/>
            <a:ext cx="9220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dashboard.html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125724" y="2039112"/>
            <a:ext cx="9037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21480" y="1801368"/>
            <a:ext cx="1013460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21480" y="1801368"/>
            <a:ext cx="101346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67200" y="1810512"/>
            <a:ext cx="9220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buscar-viajes.html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276344" y="2039112"/>
            <a:ext cx="9037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rutas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372100" y="1801368"/>
            <a:ext cx="1013460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72100" y="1801368"/>
            <a:ext cx="101346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17820" y="1810512"/>
            <a:ext cx="9220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publicar-viaje.html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26964" y="2039112"/>
            <a:ext cx="9037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522720" y="1801368"/>
            <a:ext cx="1013460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22720" y="1801368"/>
            <a:ext cx="101346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68440" y="1810512"/>
            <a:ext cx="9220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perfil.html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577584" y="2039112"/>
            <a:ext cx="9037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673340" y="1801368"/>
            <a:ext cx="1013460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673340" y="1801368"/>
            <a:ext cx="101346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19060" y="1810512"/>
            <a:ext cx="9220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en-vivo.html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728204" y="2039112"/>
            <a:ext cx="9037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0" y="2286000"/>
            <a:ext cx="0" cy="164592"/>
          </a:xfrm>
          <a:prstGeom prst="line">
            <a:avLst/>
          </a:prstGeom>
          <a:noFill/>
          <a:ln w="19050">
            <a:solidFill>
              <a:srgbClr val="E8882A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4663440" y="229514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JWT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0040" y="2468880"/>
            <a:ext cx="8503920" cy="713232"/>
          </a:xfrm>
          <a:prstGeom prst="rect">
            <a:avLst/>
          </a:prstGeom>
          <a:solidFill>
            <a:srgbClr val="FEF3E2"/>
          </a:solidFill>
          <a:ln w="19050">
            <a:solidFill>
              <a:srgbClr val="E888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2468880"/>
            <a:ext cx="1371600" cy="713232"/>
          </a:xfrm>
          <a:prstGeom prst="rect">
            <a:avLst/>
          </a:prstGeom>
          <a:solidFill>
            <a:srgbClr val="E8882A"/>
          </a:solidFill>
          <a:ln w="12700">
            <a:solidFill>
              <a:srgbClr val="E888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" y="2468880"/>
            <a:ext cx="1243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828800" y="2532888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 ·  stateless (no HttpSession)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920240" y="2788920"/>
            <a:ext cx="1588770" cy="301752"/>
          </a:xfrm>
          <a:prstGeom prst="rect">
            <a:avLst/>
          </a:prstGeom>
          <a:solidFill>
            <a:srgbClr val="FFFFFF"/>
          </a:solidFill>
          <a:ln w="10160">
            <a:solidFill>
              <a:srgbClr val="E888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920240" y="2788920"/>
            <a:ext cx="1588770" cy="201168"/>
          </a:xfrm>
          <a:prstGeom prst="rect">
            <a:avLst/>
          </a:prstGeom>
          <a:solidFill>
            <a:srgbClr val="E8882A"/>
          </a:solidFill>
          <a:ln w="12700">
            <a:solidFill>
              <a:srgbClr val="E888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65960" y="2798064"/>
            <a:ext cx="14973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JwtFilter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975104" y="3026664"/>
            <a:ext cx="1479042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request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646170" y="2788920"/>
            <a:ext cx="1588770" cy="301752"/>
          </a:xfrm>
          <a:prstGeom prst="rect">
            <a:avLst/>
          </a:prstGeom>
          <a:solidFill>
            <a:srgbClr val="FFFFFF"/>
          </a:solidFill>
          <a:ln w="10160">
            <a:solidFill>
              <a:srgbClr val="E888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646170" y="2788920"/>
            <a:ext cx="1588770" cy="201168"/>
          </a:xfrm>
          <a:prstGeom prst="rect">
            <a:avLst/>
          </a:prstGeom>
          <a:solidFill>
            <a:srgbClr val="E8882A"/>
          </a:solidFill>
          <a:ln w="12700">
            <a:solidFill>
              <a:srgbClr val="E888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91890" y="2798064"/>
            <a:ext cx="14973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JwtUtil (HS256)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701034" y="3026664"/>
            <a:ext cx="1479042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tokens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372100" y="2788920"/>
            <a:ext cx="1588770" cy="301752"/>
          </a:xfrm>
          <a:prstGeom prst="rect">
            <a:avLst/>
          </a:prstGeom>
          <a:solidFill>
            <a:srgbClr val="FFFFFF"/>
          </a:solidFill>
          <a:ln w="10160">
            <a:solidFill>
              <a:srgbClr val="E888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372100" y="2788920"/>
            <a:ext cx="1588770" cy="201168"/>
          </a:xfrm>
          <a:prstGeom prst="rect">
            <a:avLst/>
          </a:prstGeom>
          <a:solidFill>
            <a:srgbClr val="E8882A"/>
          </a:solidFill>
          <a:ln w="12700">
            <a:solidFill>
              <a:srgbClr val="E888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17820" y="2798064"/>
            <a:ext cx="14973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SecurityConfig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426964" y="3026664"/>
            <a:ext cx="1479042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públicas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protegidas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098030" y="2788920"/>
            <a:ext cx="1588770" cy="301752"/>
          </a:xfrm>
          <a:prstGeom prst="rect">
            <a:avLst/>
          </a:prstGeom>
          <a:solidFill>
            <a:srgbClr val="FFFFFF"/>
          </a:solidFill>
          <a:ln w="10160">
            <a:solidFill>
              <a:srgbClr val="E888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098030" y="2788920"/>
            <a:ext cx="1588770" cy="201168"/>
          </a:xfrm>
          <a:prstGeom prst="rect">
            <a:avLst/>
          </a:prstGeom>
          <a:solidFill>
            <a:srgbClr val="E8882A"/>
          </a:solidFill>
          <a:ln w="12700">
            <a:solidFill>
              <a:srgbClr val="E8882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43750" y="2798064"/>
            <a:ext cx="14973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152894" y="3026664"/>
            <a:ext cx="1479042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de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572000" y="3182112"/>
            <a:ext cx="0" cy="164592"/>
          </a:xfrm>
          <a:prstGeom prst="line">
            <a:avLst/>
          </a:prstGeom>
          <a:noFill/>
          <a:ln w="19050">
            <a:solidFill>
              <a:srgbClr val="4B3F72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320040" y="3364992"/>
            <a:ext cx="8503920" cy="804672"/>
          </a:xfrm>
          <a:prstGeom prst="rect">
            <a:avLst/>
          </a:prstGeom>
          <a:solidFill>
            <a:srgbClr val="EDE9F8"/>
          </a:solidFill>
          <a:ln w="19050">
            <a:solidFill>
              <a:srgbClr val="4B3F7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320040" y="3364992"/>
            <a:ext cx="1371600" cy="804672"/>
          </a:xfrm>
          <a:prstGeom prst="rect">
            <a:avLst/>
          </a:prstGeom>
          <a:solidFill>
            <a:srgbClr val="4B3F72"/>
          </a:solidFill>
          <a:ln w="12700">
            <a:solidFill>
              <a:srgbClr val="4B3F7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3192" y="3364992"/>
            <a:ext cx="12435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828800" y="3429000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 ·  Spring Boot 3.3.5  ·  Maven  ·  Lombok  ·  Spring Data JPA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920240" y="3685032"/>
            <a:ext cx="1013460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4B3F7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1920240" y="3685032"/>
            <a:ext cx="1013460" cy="201168"/>
          </a:xfrm>
          <a:prstGeom prst="rect">
            <a:avLst/>
          </a:prstGeom>
          <a:solidFill>
            <a:srgbClr val="4B3F72"/>
          </a:solidFill>
          <a:ln w="12700">
            <a:solidFill>
              <a:srgbClr val="4B3F7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965960" y="3694176"/>
            <a:ext cx="9220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1975104" y="3922776"/>
            <a:ext cx="9037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· login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070860" y="3685032"/>
            <a:ext cx="1013460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4B3F7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070860" y="3685032"/>
            <a:ext cx="1013460" cy="201168"/>
          </a:xfrm>
          <a:prstGeom prst="rect">
            <a:avLst/>
          </a:prstGeom>
          <a:solidFill>
            <a:srgbClr val="4B3F72"/>
          </a:solidFill>
          <a:ln w="12700">
            <a:solidFill>
              <a:srgbClr val="4B3F7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116580" y="3694176"/>
            <a:ext cx="9220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TripController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3125724" y="3922776"/>
            <a:ext cx="9037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/api/trips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viajes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221480" y="3685032"/>
            <a:ext cx="1013460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4B3F7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4221480" y="3685032"/>
            <a:ext cx="1013460" cy="201168"/>
          </a:xfrm>
          <a:prstGeom prst="rect">
            <a:avLst/>
          </a:prstGeom>
          <a:solidFill>
            <a:srgbClr val="4B3F72"/>
          </a:solidFill>
          <a:ln w="12700">
            <a:solidFill>
              <a:srgbClr val="4B3F7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267200" y="3694176"/>
            <a:ext cx="9220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BookingController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4276344" y="3922776"/>
            <a:ext cx="9037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/api/bookings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372100" y="3685032"/>
            <a:ext cx="1013460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4B3F7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5372100" y="3685032"/>
            <a:ext cx="1013460" cy="201168"/>
          </a:xfrm>
          <a:prstGeom prst="rect">
            <a:avLst/>
          </a:prstGeom>
          <a:solidFill>
            <a:srgbClr val="4B3F72"/>
          </a:solidFill>
          <a:ln w="12700">
            <a:solidFill>
              <a:srgbClr val="4B3F7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417820" y="3694176"/>
            <a:ext cx="9220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ReviewController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426964" y="3922776"/>
            <a:ext cx="9037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/api/reviews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Calificaciones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6522720" y="3685032"/>
            <a:ext cx="1013460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4B3F7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6522720" y="3685032"/>
            <a:ext cx="1013460" cy="201168"/>
          </a:xfrm>
          <a:prstGeom prst="rect">
            <a:avLst/>
          </a:prstGeom>
          <a:solidFill>
            <a:srgbClr val="4B3F72"/>
          </a:solidFill>
          <a:ln w="12700">
            <a:solidFill>
              <a:srgbClr val="4B3F7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568440" y="3694176"/>
            <a:ext cx="9220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6577584" y="3922776"/>
            <a:ext cx="9037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BookingService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7673340" y="3685032"/>
            <a:ext cx="1013460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4B3F7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7673340" y="3685032"/>
            <a:ext cx="1013460" cy="201168"/>
          </a:xfrm>
          <a:prstGeom prst="rect">
            <a:avLst/>
          </a:prstGeom>
          <a:solidFill>
            <a:srgbClr val="4B3F72"/>
          </a:solidFill>
          <a:ln w="12700">
            <a:solidFill>
              <a:srgbClr val="4B3F7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719060" y="3694176"/>
            <a:ext cx="9220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7728204" y="3922776"/>
            <a:ext cx="9037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interfaces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572000" y="4169664"/>
            <a:ext cx="0" cy="164592"/>
          </a:xfrm>
          <a:prstGeom prst="line">
            <a:avLst/>
          </a:prstGeom>
          <a:noFill/>
          <a:ln w="19050">
            <a:solidFill>
              <a:srgbClr val="C25147"/>
            </a:solidFill>
            <a:prstDash val="solid"/>
            <a:tailEnd type="triangle"/>
          </a:ln>
        </p:spPr>
      </p:sp>
      <p:sp>
        <p:nvSpPr>
          <p:cNvPr id="87" name="Text 85"/>
          <p:cNvSpPr/>
          <p:nvPr/>
        </p:nvSpPr>
        <p:spPr>
          <a:xfrm>
            <a:off x="4663440" y="417880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2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/ Hibernate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320040" y="4352544"/>
            <a:ext cx="8503920" cy="713232"/>
          </a:xfrm>
          <a:prstGeom prst="rect">
            <a:avLst/>
          </a:prstGeom>
          <a:solidFill>
            <a:srgbClr val="FDECEA"/>
          </a:solidFill>
          <a:ln w="19050">
            <a:solidFill>
              <a:srgbClr val="C251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320040" y="4352544"/>
            <a:ext cx="1371600" cy="713232"/>
          </a:xfrm>
          <a:prstGeom prst="rect">
            <a:avLst/>
          </a:prstGeom>
          <a:solidFill>
            <a:srgbClr val="C25147"/>
          </a:solidFill>
          <a:ln w="12700">
            <a:solidFill>
              <a:srgbClr val="C25147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93192" y="4352544"/>
            <a:ext cx="1243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1828800" y="4416552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 ·  Docker  ·  volumen persistente postgres_data  ·  puerto 5432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1920240" y="4672584"/>
            <a:ext cx="1588770" cy="301752"/>
          </a:xfrm>
          <a:prstGeom prst="rect">
            <a:avLst/>
          </a:prstGeom>
          <a:solidFill>
            <a:srgbClr val="FFFFFF"/>
          </a:solidFill>
          <a:ln w="10160">
            <a:solidFill>
              <a:srgbClr val="C251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1920240" y="4672584"/>
            <a:ext cx="1588770" cy="201168"/>
          </a:xfrm>
          <a:prstGeom prst="rect">
            <a:avLst/>
          </a:prstGeom>
          <a:solidFill>
            <a:srgbClr val="C25147"/>
          </a:solidFill>
          <a:ln w="12700">
            <a:solidFill>
              <a:srgbClr val="C25147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965960" y="4681728"/>
            <a:ext cx="14973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1975104" y="4910328"/>
            <a:ext cx="1479042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email, rol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rating, faculty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3646170" y="4672584"/>
            <a:ext cx="1588770" cy="301752"/>
          </a:xfrm>
          <a:prstGeom prst="rect">
            <a:avLst/>
          </a:prstGeom>
          <a:solidFill>
            <a:srgbClr val="FFFFFF"/>
          </a:solidFill>
          <a:ln w="10160">
            <a:solidFill>
              <a:srgbClr val="C251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3646170" y="4672584"/>
            <a:ext cx="1588770" cy="201168"/>
          </a:xfrm>
          <a:prstGeom prst="rect">
            <a:avLst/>
          </a:prstGeom>
          <a:solidFill>
            <a:srgbClr val="C25147"/>
          </a:solidFill>
          <a:ln w="12700">
            <a:solidFill>
              <a:srgbClr val="C25147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691890" y="4681728"/>
            <a:ext cx="14973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3701034" y="4910328"/>
            <a:ext cx="1479042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driver_id, seats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status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5372100" y="4672584"/>
            <a:ext cx="1588770" cy="301752"/>
          </a:xfrm>
          <a:prstGeom prst="rect">
            <a:avLst/>
          </a:prstGeom>
          <a:solidFill>
            <a:srgbClr val="FFFFFF"/>
          </a:solidFill>
          <a:ln w="10160">
            <a:solidFill>
              <a:srgbClr val="C251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1" name="Shape 99"/>
          <p:cNvSpPr/>
          <p:nvPr/>
        </p:nvSpPr>
        <p:spPr>
          <a:xfrm>
            <a:off x="5372100" y="4672584"/>
            <a:ext cx="1588770" cy="201168"/>
          </a:xfrm>
          <a:prstGeom prst="rect">
            <a:avLst/>
          </a:prstGeom>
          <a:solidFill>
            <a:srgbClr val="C25147"/>
          </a:solidFill>
          <a:ln w="12700">
            <a:solidFill>
              <a:srgbClr val="C25147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417820" y="4681728"/>
            <a:ext cx="14973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5426964" y="4910328"/>
            <a:ext cx="1479042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trip_id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passenger_id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7098030" y="4672584"/>
            <a:ext cx="1588770" cy="301752"/>
          </a:xfrm>
          <a:prstGeom prst="rect">
            <a:avLst/>
          </a:prstGeom>
          <a:solidFill>
            <a:srgbClr val="FFFFFF"/>
          </a:solidFill>
          <a:ln w="10160">
            <a:solidFill>
              <a:srgbClr val="C251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7098030" y="4672584"/>
            <a:ext cx="1588770" cy="201168"/>
          </a:xfrm>
          <a:prstGeom prst="rect">
            <a:avLst/>
          </a:prstGeom>
          <a:solidFill>
            <a:srgbClr val="C25147"/>
          </a:solidFill>
          <a:ln w="12700">
            <a:solidFill>
              <a:srgbClr val="C25147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143750" y="4681728"/>
            <a:ext cx="14973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7152894" y="4910328"/>
            <a:ext cx="1479042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reviewer_id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1–5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 + Vanilla JS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397764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A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43000"/>
            <a:ext cx="16459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344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47218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y autenticación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85800" y="166420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login/registro. Validación de correo @javeriana.edu.co. Llama POST /api/auth/login y almacena el JWT.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397764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A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143000"/>
            <a:ext cx="16459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2344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dashboard.html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47218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principal del usuario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37760" y="166420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viajes activos, próximas reservas y estadísticas. Diferencia vista de DRIVER vs PASSENGER.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2350008"/>
            <a:ext cx="397764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A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350008"/>
            <a:ext cx="16459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44144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buscar-viajes.html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267919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carpooling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5800" y="2871216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origen, destino, fecha, precio y preferencias (solo mujeres, A/C). Llama POST /api/trips/search.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2350008"/>
            <a:ext cx="397764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A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350008"/>
            <a:ext cx="16459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44144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publicar-viaje.html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67919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un viaje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2871216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con origen, destino, hora de salida, cupos, precio y opciones. Llama POST /api/trips.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1480" y="3557016"/>
            <a:ext cx="397764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A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3557016"/>
            <a:ext cx="16459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6484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perfil.html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388620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del usuario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" y="4078224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personales, vehículo, facultad, historial de viajes como conductor y calificación promedio.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3557016"/>
            <a:ext cx="397764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A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557016"/>
            <a:ext cx="16459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6484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en-vivo.html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388620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 en tiempo real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37760" y="4078224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viaje activo, pasajeros confirmados, controles de conductor para completar o cancelar el viaje.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framework SPA · Servido directamente desde Spring Boot /static · Comunicación con el backend vía fetch() con header Authorization: Bearer &lt;token&gt;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88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· JWT HMAC-SHA256 · BCrypt · Sesión stateless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1481328" cy="960120"/>
          </a:xfrm>
          <a:prstGeom prst="rect">
            <a:avLst/>
          </a:prstGeom>
          <a:solidFill>
            <a:srgbClr val="FEF3E2"/>
          </a:solidFill>
          <a:ln w="12700">
            <a:solidFill>
              <a:srgbClr val="E888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25880"/>
            <a:ext cx="1481328" cy="256032"/>
          </a:xfrm>
          <a:prstGeom prst="rect">
            <a:avLst/>
          </a:prstGeom>
          <a:solidFill>
            <a:srgbClr val="E8882A"/>
          </a:solidFill>
          <a:ln w="12700">
            <a:solidFill>
              <a:srgbClr val="E888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" y="13624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POST /api/auth/login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84632" y="1636776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(email + password)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92808" y="1805940"/>
            <a:ext cx="237744" cy="0"/>
          </a:xfrm>
          <a:prstGeom prst="line">
            <a:avLst/>
          </a:prstGeom>
          <a:noFill/>
          <a:ln w="19050">
            <a:solidFill>
              <a:srgbClr val="E8882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30552" y="1325880"/>
            <a:ext cx="1481328" cy="960120"/>
          </a:xfrm>
          <a:prstGeom prst="rect">
            <a:avLst/>
          </a:prstGeom>
          <a:solidFill>
            <a:srgbClr val="FEF3E2"/>
          </a:solidFill>
          <a:ln w="12700">
            <a:solidFill>
              <a:srgbClr val="E888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30552" y="1325880"/>
            <a:ext cx="1481328" cy="256032"/>
          </a:xfrm>
          <a:prstGeom prst="rect">
            <a:avLst/>
          </a:prstGeom>
          <a:solidFill>
            <a:srgbClr val="E8882A"/>
          </a:solidFill>
          <a:ln w="12700">
            <a:solidFill>
              <a:srgbClr val="E888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85416" y="13624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CustomUserDetailsService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203704" y="1636776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usuario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BD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11880" y="1805940"/>
            <a:ext cx="237744" cy="0"/>
          </a:xfrm>
          <a:prstGeom prst="line">
            <a:avLst/>
          </a:prstGeom>
          <a:noFill/>
          <a:ln w="19050">
            <a:solidFill>
              <a:srgbClr val="E8882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849624" y="1325880"/>
            <a:ext cx="1481328" cy="960120"/>
          </a:xfrm>
          <a:prstGeom prst="rect">
            <a:avLst/>
          </a:prstGeom>
          <a:solidFill>
            <a:srgbClr val="FEF3E2"/>
          </a:solidFill>
          <a:ln w="12700">
            <a:solidFill>
              <a:srgbClr val="E888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9624" y="1325880"/>
            <a:ext cx="1481328" cy="256032"/>
          </a:xfrm>
          <a:prstGeom prst="rect">
            <a:avLst/>
          </a:prstGeom>
          <a:solidFill>
            <a:srgbClr val="E8882A"/>
          </a:solidFill>
          <a:ln w="12700">
            <a:solidFill>
              <a:srgbClr val="E888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04488" y="13624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BCrypt.matches()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922776" y="1636776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de password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330952" y="1805940"/>
            <a:ext cx="237744" cy="0"/>
          </a:xfrm>
          <a:prstGeom prst="line">
            <a:avLst/>
          </a:prstGeom>
          <a:noFill/>
          <a:ln w="19050">
            <a:solidFill>
              <a:srgbClr val="E8882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568696" y="1325880"/>
            <a:ext cx="1481328" cy="960120"/>
          </a:xfrm>
          <a:prstGeom prst="rect">
            <a:avLst/>
          </a:prstGeom>
          <a:solidFill>
            <a:srgbClr val="FEF3E2"/>
          </a:solidFill>
          <a:ln w="12700">
            <a:solidFill>
              <a:srgbClr val="E888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68696" y="1325880"/>
            <a:ext cx="1481328" cy="256032"/>
          </a:xfrm>
          <a:prstGeom prst="rect">
            <a:avLst/>
          </a:prstGeom>
          <a:solidFill>
            <a:srgbClr val="E8882A"/>
          </a:solidFill>
          <a:ln w="12700">
            <a:solidFill>
              <a:srgbClr val="E888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13624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JwtUtil.generateToken()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641848" y="1636776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 de expiración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050024" y="1805940"/>
            <a:ext cx="237744" cy="0"/>
          </a:xfrm>
          <a:prstGeom prst="line">
            <a:avLst/>
          </a:prstGeom>
          <a:noFill/>
          <a:ln w="19050">
            <a:solidFill>
              <a:srgbClr val="E8882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287768" y="1325880"/>
            <a:ext cx="1481328" cy="960120"/>
          </a:xfrm>
          <a:prstGeom prst="rect">
            <a:avLst/>
          </a:prstGeom>
          <a:solidFill>
            <a:srgbClr val="FEF3E2"/>
          </a:solidFill>
          <a:ln w="12700">
            <a:solidFill>
              <a:srgbClr val="E888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87768" y="1325880"/>
            <a:ext cx="1481328" cy="256032"/>
          </a:xfrm>
          <a:prstGeom prst="rect">
            <a:avLst/>
          </a:prstGeom>
          <a:solidFill>
            <a:srgbClr val="E8882A"/>
          </a:solidFill>
          <a:ln w="12700">
            <a:solidFill>
              <a:srgbClr val="E888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42632" y="13624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Response: { token }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360920" y="1636776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devuelto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cliente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11480" y="24871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request protegida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11480" y="2907792"/>
            <a:ext cx="274320" cy="256032"/>
          </a:xfrm>
          <a:prstGeom prst="rect">
            <a:avLst/>
          </a:prstGeom>
          <a:solidFill>
            <a:srgbClr val="E8882A"/>
          </a:solidFill>
          <a:ln w="12700">
            <a:solidFill>
              <a:srgbClr val="E888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29077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86384" y="293522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envía Authorization: Bearer &lt;token&gt;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11480" y="3255264"/>
            <a:ext cx="274320" cy="256032"/>
          </a:xfrm>
          <a:prstGeom prst="rect">
            <a:avLst/>
          </a:prstGeom>
          <a:solidFill>
            <a:srgbClr val="E8882A"/>
          </a:solidFill>
          <a:ln w="12700">
            <a:solidFill>
              <a:srgbClr val="E888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25526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86384" y="328269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JwtFilter intercepta la request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11480" y="3602736"/>
            <a:ext cx="274320" cy="256032"/>
          </a:xfrm>
          <a:prstGeom prst="rect">
            <a:avLst/>
          </a:prstGeom>
          <a:solidFill>
            <a:srgbClr val="E8882A"/>
          </a:solidFill>
          <a:ln w="12700">
            <a:solidFill>
              <a:srgbClr val="E888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60273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86384" y="363016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JwtUtil.isValid() valida firma y expiración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11480" y="3950208"/>
            <a:ext cx="274320" cy="256032"/>
          </a:xfrm>
          <a:prstGeom prst="rect">
            <a:avLst/>
          </a:prstGeom>
          <a:solidFill>
            <a:srgbClr val="E8882A"/>
          </a:solidFill>
          <a:ln w="12700">
            <a:solidFill>
              <a:srgbClr val="E888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95020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86384" y="397764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SecurityContextHolder carga el usuario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11480" y="4297680"/>
            <a:ext cx="274320" cy="256032"/>
          </a:xfrm>
          <a:prstGeom prst="rect">
            <a:avLst/>
          </a:prstGeom>
          <a:solidFill>
            <a:srgbClr val="E8882A"/>
          </a:solidFill>
          <a:ln w="12700">
            <a:solidFill>
              <a:srgbClr val="E888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29768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86384" y="432511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 recibe request autenticada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11480" y="475488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públicas: /api/auth/** · /api/global/** · /index.html · /**.css · /**.js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B3F7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API REST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· Spring Boot 3.3.5 · Spring Data JPA · Lombok · Maven · puerto 8080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20574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1133856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84632" y="1335024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1499616"/>
            <a:ext cx="20574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A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591056"/>
            <a:ext cx="365760" cy="18288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5910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886968" y="15544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/api/auth/register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86968" y="173736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usuario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11480" y="2002536"/>
            <a:ext cx="20574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A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2093976"/>
            <a:ext cx="365760" cy="18288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0939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886968" y="20574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/api/auth/login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86968" y="22402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JWT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615184" y="1115568"/>
            <a:ext cx="2057400" cy="384048"/>
          </a:xfrm>
          <a:prstGeom prst="rect">
            <a:avLst/>
          </a:prstGeom>
          <a:solidFill>
            <a:srgbClr val="4B3F72"/>
          </a:solidFill>
          <a:ln w="12700">
            <a:solidFill>
              <a:srgbClr val="4B3F7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688336" y="1133856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TripController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88336" y="1335024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/api/trips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615184" y="1499616"/>
            <a:ext cx="20574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A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79192" y="1591056"/>
            <a:ext cx="365760" cy="182880"/>
          </a:xfrm>
          <a:prstGeom prst="rect">
            <a:avLst/>
          </a:prstGeom>
          <a:solidFill>
            <a:srgbClr val="1A8745"/>
          </a:solidFill>
          <a:ln w="12700">
            <a:solidFill>
              <a:srgbClr val="1A87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79192" y="15910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3090672" y="15544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/api/trips/upcoming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090672" y="173736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Viajes próximos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615184" y="2002536"/>
            <a:ext cx="20574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A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79192" y="2093976"/>
            <a:ext cx="365760" cy="18288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79192" y="20939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3090672" y="20574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/api/trips/search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090672" y="22402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viajes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615184" y="2505456"/>
            <a:ext cx="20574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A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79192" y="2596896"/>
            <a:ext cx="365760" cy="18288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79192" y="259689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3090672" y="2560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/api/trips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090672" y="274320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viaje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615184" y="3008376"/>
            <a:ext cx="20574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A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79192" y="3099816"/>
            <a:ext cx="365760" cy="182880"/>
          </a:xfrm>
          <a:prstGeom prst="rect">
            <a:avLst/>
          </a:prstGeom>
          <a:solidFill>
            <a:srgbClr val="1A8745"/>
          </a:solidFill>
          <a:ln w="12700">
            <a:solidFill>
              <a:srgbClr val="1A87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79192" y="3099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3090672" y="30632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/api/trips/my-trips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090672" y="324612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viajes (conductor)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615184" y="3511296"/>
            <a:ext cx="20574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A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79192" y="3602736"/>
            <a:ext cx="365760" cy="182880"/>
          </a:xfrm>
          <a:prstGeom prst="rect">
            <a:avLst/>
          </a:prstGeom>
          <a:solidFill>
            <a:srgbClr val="1A8745"/>
          </a:solidFill>
          <a:ln w="12700">
            <a:solidFill>
              <a:srgbClr val="1A87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79192" y="36027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3090672" y="35661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/api/trips/stats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090672" y="374904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615184" y="4014216"/>
            <a:ext cx="20574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AE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679192" y="4105656"/>
            <a:ext cx="365760" cy="182880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79192" y="41056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3090672" y="40690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/api/trips/{id}/complete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090672" y="425196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viaje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818888" y="1115568"/>
            <a:ext cx="2057400" cy="384048"/>
          </a:xfrm>
          <a:prstGeom prst="rect">
            <a:avLst/>
          </a:prstGeom>
          <a:solidFill>
            <a:srgbClr val="E8882A"/>
          </a:solidFill>
          <a:ln w="12700">
            <a:solidFill>
              <a:srgbClr val="E888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892040" y="1133856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BookingController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892040" y="1335024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/api/bookings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818888" y="1499616"/>
            <a:ext cx="20574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AE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82896" y="1591056"/>
            <a:ext cx="365760" cy="18288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82896" y="15910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5294376" y="15544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/api/bookings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294376" y="173736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reserva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818888" y="2002536"/>
            <a:ext cx="20574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AE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82896" y="2093976"/>
            <a:ext cx="365760" cy="182880"/>
          </a:xfrm>
          <a:prstGeom prst="rect">
            <a:avLst/>
          </a:prstGeom>
          <a:solidFill>
            <a:srgbClr val="1A8745"/>
          </a:solidFill>
          <a:ln w="12700">
            <a:solidFill>
              <a:srgbClr val="1A874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82896" y="20939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5294376" y="20574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/api/bookings/my-trips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5294376" y="22402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reservas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818888" y="2505456"/>
            <a:ext cx="20574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AE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82896" y="2596896"/>
            <a:ext cx="365760" cy="182880"/>
          </a:xfrm>
          <a:prstGeom prst="rect">
            <a:avLst/>
          </a:prstGeom>
          <a:solidFill>
            <a:srgbClr val="1A8745"/>
          </a:solidFill>
          <a:ln w="12700">
            <a:solidFill>
              <a:srgbClr val="1A874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82896" y="259689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5294376" y="2560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/api/bookings/my-driver-bookings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5294376" y="274320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de mis viajes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818888" y="3008376"/>
            <a:ext cx="20574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AE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882896" y="3099816"/>
            <a:ext cx="365760" cy="182880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82896" y="3099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5294376" y="30632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/api/bookings/{id}/confirm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5294376" y="324612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reserva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818888" y="3511296"/>
            <a:ext cx="20574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AE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82896" y="3602736"/>
            <a:ext cx="365760" cy="182880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882896" y="36027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5294376" y="35661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/api/bookings/{id}/complete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5294376" y="374904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reserva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4818888" y="4014216"/>
            <a:ext cx="20574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AE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882896" y="4105656"/>
            <a:ext cx="365760" cy="182880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882896" y="41056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5294376" y="40690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/api/bookings/{id}/reject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5294376" y="425196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Rechazar reserva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7022592" y="1115568"/>
            <a:ext cx="2057400" cy="384048"/>
          </a:xfrm>
          <a:prstGeom prst="rect">
            <a:avLst/>
          </a:prstGeom>
          <a:solidFill>
            <a:srgbClr val="C25147"/>
          </a:solidFill>
          <a:ln w="12700">
            <a:solidFill>
              <a:srgbClr val="C251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7095744" y="1133856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ReviewController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7095744" y="1335024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/api/reviews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7022592" y="1499616"/>
            <a:ext cx="20574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AE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086600" y="1591056"/>
            <a:ext cx="365760" cy="18288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086600" y="15910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7498080" y="15544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/api/reviews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7498080" y="173736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reseña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7022592" y="2002536"/>
            <a:ext cx="20574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AE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086600" y="2093976"/>
            <a:ext cx="365760" cy="182880"/>
          </a:xfrm>
          <a:prstGeom prst="rect">
            <a:avLst/>
          </a:prstGeom>
          <a:solidFill>
            <a:srgbClr val="1A8745"/>
          </a:solidFill>
          <a:ln w="12700">
            <a:solidFill>
              <a:srgbClr val="1A874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086600" y="20939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650" dirty="0"/>
          </a:p>
        </p:txBody>
      </p:sp>
      <p:sp>
        <p:nvSpPr>
          <p:cNvPr id="95" name="Text 93"/>
          <p:cNvSpPr/>
          <p:nvPr/>
        </p:nvSpPr>
        <p:spPr>
          <a:xfrm>
            <a:off x="7498080" y="20574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/api/reviews/user/{id}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7498080" y="22402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 de un usuario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2514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· Docker (volumen persistente) · Spring Data JPA / Hibernate · DDL auto-update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2011680" cy="329184"/>
          </a:xfrm>
          <a:prstGeom prst="rect">
            <a:avLst/>
          </a:prstGeom>
          <a:solidFill>
            <a:srgbClr val="C25147"/>
          </a:solidFill>
          <a:ln w="12700">
            <a:solidFill>
              <a:srgbClr val="C251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97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408176"/>
            <a:ext cx="20116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D4DA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336853" y="1463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BIGSERIAL PK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700784"/>
            <a:ext cx="2011680" cy="292608"/>
          </a:xfrm>
          <a:prstGeom prst="rect">
            <a:avLst/>
          </a:prstGeom>
          <a:solidFill>
            <a:srgbClr val="FDECEA"/>
          </a:solidFill>
          <a:ln w="5080">
            <a:solidFill>
              <a:srgbClr val="D4DA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55648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full_name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36853" y="17556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VARCHAR(255)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11480" y="1993392"/>
            <a:ext cx="20116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D4DA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48256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336853" y="20482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VARCHAR(255) UNIQUE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11480" y="2286000"/>
            <a:ext cx="2011680" cy="292608"/>
          </a:xfrm>
          <a:prstGeom prst="rect">
            <a:avLst/>
          </a:prstGeom>
          <a:solidFill>
            <a:srgbClr val="FDECEA"/>
          </a:solidFill>
          <a:ln w="5080">
            <a:solidFill>
              <a:srgbClr val="D4DA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340864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336853" y="23408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VARCHAR(255)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11480" y="2578608"/>
            <a:ext cx="20116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D4DA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633472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336853" y="26334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VARCHAR(20) UNIQUE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11480" y="2871216"/>
            <a:ext cx="2011680" cy="292608"/>
          </a:xfrm>
          <a:prstGeom prst="rect">
            <a:avLst/>
          </a:prstGeom>
          <a:solidFill>
            <a:srgbClr val="FDECEA"/>
          </a:solidFill>
          <a:ln w="5080">
            <a:solidFill>
              <a:srgbClr val="D4DA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926080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336853" y="29260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VARCHAR(20)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11480" y="3163824"/>
            <a:ext cx="20116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D4DA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218688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vehicle_plate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336853" y="32186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11480" y="3456432"/>
            <a:ext cx="2011680" cy="292608"/>
          </a:xfrm>
          <a:prstGeom prst="rect">
            <a:avLst/>
          </a:prstGeom>
          <a:solidFill>
            <a:srgbClr val="FDECEA"/>
          </a:solidFill>
          <a:ln w="5080">
            <a:solidFill>
              <a:srgbClr val="D4DA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511296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336853" y="35112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 DEFAULT 5.0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11480" y="3749040"/>
            <a:ext cx="20116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D4DA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803904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total_ratings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336853" y="38039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DEFAULT 0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11480" y="4041648"/>
            <a:ext cx="2011680" cy="292608"/>
          </a:xfrm>
          <a:prstGeom prst="rect">
            <a:avLst/>
          </a:prstGeom>
          <a:solidFill>
            <a:srgbClr val="FDECEA"/>
          </a:solidFill>
          <a:ln w="5080">
            <a:solidFill>
              <a:srgbClr val="D4DA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096512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336853" y="40965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11480" y="4334256"/>
            <a:ext cx="20116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D4DA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389120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336853" y="43891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551176" y="1078992"/>
            <a:ext cx="2011680" cy="329184"/>
          </a:xfrm>
          <a:prstGeom prst="rect">
            <a:avLst/>
          </a:prstGeom>
          <a:solidFill>
            <a:srgbClr val="C25147"/>
          </a:solidFill>
          <a:ln w="12700">
            <a:solidFill>
              <a:srgbClr val="C251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642616" y="1097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551176" y="1408176"/>
            <a:ext cx="20116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D4DAE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42616" y="1463040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476549" y="1463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BIGSERIAL PK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551176" y="1700784"/>
            <a:ext cx="2011680" cy="292608"/>
          </a:xfrm>
          <a:prstGeom prst="rect">
            <a:avLst/>
          </a:prstGeom>
          <a:solidFill>
            <a:srgbClr val="FDECEA"/>
          </a:solidFill>
          <a:ln w="5080">
            <a:solidFill>
              <a:srgbClr val="D4DAE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42616" y="1755648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driver_id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476549" y="17556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FK → users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551176" y="1993392"/>
            <a:ext cx="20116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D4DAE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42616" y="2048256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476549" y="20482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VARCHAR(255)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551176" y="2286000"/>
            <a:ext cx="2011680" cy="292608"/>
          </a:xfrm>
          <a:prstGeom prst="rect">
            <a:avLst/>
          </a:prstGeom>
          <a:solidFill>
            <a:srgbClr val="FDECEA"/>
          </a:solidFill>
          <a:ln w="5080">
            <a:solidFill>
              <a:srgbClr val="D4DAE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42616" y="2340864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476549" y="23408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VARCHAR(255)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551176" y="2578608"/>
            <a:ext cx="20116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D4DAE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42616" y="2633472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476549" y="26334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551176" y="2871216"/>
            <a:ext cx="2011680" cy="292608"/>
          </a:xfrm>
          <a:prstGeom prst="rect">
            <a:avLst/>
          </a:prstGeom>
          <a:solidFill>
            <a:srgbClr val="FDECEA"/>
          </a:solidFill>
          <a:ln w="5080">
            <a:solidFill>
              <a:srgbClr val="D4DAE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42616" y="2926080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476549" y="29260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551176" y="3163824"/>
            <a:ext cx="20116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D4DAE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642616" y="3218688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3476549" y="32186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2551176" y="3456432"/>
            <a:ext cx="2011680" cy="292608"/>
          </a:xfrm>
          <a:prstGeom prst="rect">
            <a:avLst/>
          </a:prstGeom>
          <a:solidFill>
            <a:srgbClr val="FDECEA"/>
          </a:solidFill>
          <a:ln w="5080">
            <a:solidFill>
              <a:srgbClr val="D4DAE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642616" y="3511296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only_women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3476549" y="35112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DEFAULT false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551176" y="3749040"/>
            <a:ext cx="20116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D4DAE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642616" y="3803904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has_ac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3476549" y="38039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DEFAULT false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2551176" y="4041648"/>
            <a:ext cx="2011680" cy="292608"/>
          </a:xfrm>
          <a:prstGeom prst="rect">
            <a:avLst/>
          </a:prstGeom>
          <a:solidFill>
            <a:srgbClr val="FDECEA"/>
          </a:solidFill>
          <a:ln w="5080">
            <a:solidFill>
              <a:srgbClr val="D4DAE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642616" y="4096512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3476549" y="40965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VARCHAR(20) DEFAULT ACTIVE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2551176" y="4334256"/>
            <a:ext cx="20116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D4DAE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642616" y="4389120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3476549" y="43891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4690872" y="1078992"/>
            <a:ext cx="2011680" cy="329184"/>
          </a:xfrm>
          <a:prstGeom prst="rect">
            <a:avLst/>
          </a:prstGeom>
          <a:solidFill>
            <a:srgbClr val="C25147"/>
          </a:solidFill>
          <a:ln w="12700">
            <a:solidFill>
              <a:srgbClr val="C251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4782312" y="1097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4690872" y="1408176"/>
            <a:ext cx="20116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D4DAE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782312" y="1463040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5616245" y="1463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BIGSERIAL PK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4690872" y="1700784"/>
            <a:ext cx="2011680" cy="292608"/>
          </a:xfrm>
          <a:prstGeom prst="rect">
            <a:avLst/>
          </a:prstGeom>
          <a:solidFill>
            <a:srgbClr val="FDECEA"/>
          </a:solidFill>
          <a:ln w="5080">
            <a:solidFill>
              <a:srgbClr val="D4DAE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82312" y="1755648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trip_id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5616245" y="17556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FK → trips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4690872" y="1993392"/>
            <a:ext cx="20116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D4DAE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782312" y="2048256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passenger_id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616245" y="20482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FK → users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4690872" y="2286000"/>
            <a:ext cx="2011680" cy="292608"/>
          </a:xfrm>
          <a:prstGeom prst="rect">
            <a:avLst/>
          </a:prstGeom>
          <a:solidFill>
            <a:srgbClr val="FDECEA"/>
          </a:solidFill>
          <a:ln w="5080">
            <a:solidFill>
              <a:srgbClr val="D4DAE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782312" y="2340864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5616245" y="23408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VARCHAR(50) DEFAULT PENDING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4690872" y="2578608"/>
            <a:ext cx="20116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D4DAE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782312" y="2633472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5616245" y="26334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6830568" y="1078992"/>
            <a:ext cx="2011680" cy="329184"/>
          </a:xfrm>
          <a:prstGeom prst="rect">
            <a:avLst/>
          </a:prstGeom>
          <a:solidFill>
            <a:srgbClr val="C25147"/>
          </a:solidFill>
          <a:ln w="12700">
            <a:solidFill>
              <a:srgbClr val="C251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3" name="Text 91"/>
          <p:cNvSpPr/>
          <p:nvPr/>
        </p:nvSpPr>
        <p:spPr>
          <a:xfrm>
            <a:off x="6922008" y="1097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6830568" y="1408176"/>
            <a:ext cx="20116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D4DAE2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922008" y="1463040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7755941" y="1463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BIGSERIAL PK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6830568" y="1700784"/>
            <a:ext cx="2011680" cy="292608"/>
          </a:xfrm>
          <a:prstGeom prst="rect">
            <a:avLst/>
          </a:prstGeom>
          <a:solidFill>
            <a:srgbClr val="FDECEA"/>
          </a:solidFill>
          <a:ln w="5080">
            <a:solidFill>
              <a:srgbClr val="D4DAE2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922008" y="1755648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reviewer_id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7755941" y="17556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FK → users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6830568" y="1993392"/>
            <a:ext cx="20116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D4DAE2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922008" y="2048256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reviewed_id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7755941" y="20482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FK → users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6830568" y="2286000"/>
            <a:ext cx="2011680" cy="292608"/>
          </a:xfrm>
          <a:prstGeom prst="rect">
            <a:avLst/>
          </a:prstGeom>
          <a:solidFill>
            <a:srgbClr val="FDECEA"/>
          </a:solidFill>
          <a:ln w="5080">
            <a:solidFill>
              <a:srgbClr val="D4DAE2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922008" y="2340864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7755941" y="23408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CHECK (1–5)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6830568" y="2578608"/>
            <a:ext cx="20116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D4DAE2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922008" y="2633472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7755941" y="26334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6830568" y="2871216"/>
            <a:ext cx="2011680" cy="292608"/>
          </a:xfrm>
          <a:prstGeom prst="rect">
            <a:avLst/>
          </a:prstGeom>
          <a:solidFill>
            <a:srgbClr val="FDECEA"/>
          </a:solidFill>
          <a:ln w="5080">
            <a:solidFill>
              <a:srgbClr val="D4DAE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922008" y="2926080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7755941" y="29260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411480" y="4617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clave</a:t>
            </a:r>
            <a:endParaRPr lang="en-US" sz="1000" dirty="0"/>
          </a:p>
        </p:txBody>
      </p:sp>
      <p:sp>
        <p:nvSpPr>
          <p:cNvPr id="113" name="Text 111"/>
          <p:cNvSpPr/>
          <p:nvPr/>
        </p:nvSpPr>
        <p:spPr>
          <a:xfrm>
            <a:off x="411480" y="4855464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trips.driver_id → users.id     bookings.trip_id → trips.id   ·   bookings.passenger_id → users.id     reviews.reviewer_id / reviewed_id → users.id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&amp; Despliegue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5029200" cy="397764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  <a:gridCol w="1005840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Tecnología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HTML5 + CSS3 + Vanilla JS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+ Spring Boot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/ 3.3.5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Data JPA (Hibernate)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incluido en Boot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datos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Security + JJWT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Cifrado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BCrypt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incluido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Validación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Jakarta Bean Validation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incluido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Maven Wrapper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Contenedor DB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/ Docker Compose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Boilerplate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Lombok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2971800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A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914400"/>
            <a:ext cx="29718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70448" y="932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870448" y="129844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870448" y="144018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postgres: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870448" y="15819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postgres:16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870448" y="172364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5432:5432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870448" y="1865376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870448" y="200710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postgres_data:/var/lib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870448" y="214884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./database/init.sql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870448" y="229057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healthcheck: pg_isready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870448" y="243230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870448" y="2574036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postgres_data: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760720" y="3035808"/>
            <a:ext cx="297180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A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760720" y="3035808"/>
            <a:ext cx="2971800" cy="3200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70448" y="30540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870448" y="34198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eclipse-temurin:17-jdk-alpine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870448" y="36027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870448" y="37856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backend .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870448" y="39684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./mvnw clean package -DskipTests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5870448" y="41513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8080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5870448" y="43342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 ["java", "-jar",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5870448" y="45171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"target/backend-3.3.5.jar"]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UniRide — Arquitectura del Sistema</dc:title>
  <dc:subject>PptxGenJS Presentation</dc:subject>
  <dc:creator>UniRide Team</dc:creator>
  <cp:lastModifiedBy>UniRide Team</cp:lastModifiedBy>
  <cp:revision>1</cp:revision>
  <dcterms:created xsi:type="dcterms:W3CDTF">2026-05-18T04:13:18Z</dcterms:created>
  <dcterms:modified xsi:type="dcterms:W3CDTF">2026-05-18T04:13:18Z</dcterms:modified>
</cp:coreProperties>
</file>